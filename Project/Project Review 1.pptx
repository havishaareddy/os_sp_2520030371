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8" r:id="rId3"/>
    <p:sldId id="259" r:id="rId4"/>
    <p:sldId id="260" r:id="rId5"/>
    <p:sldId id="262" r:id="rId6"/>
    <p:sldId id="261"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2EA6D10-A6A4-4BE3-AB43-762348D6A38F}" type="datetimeFigureOut">
              <a:rPr lang="en-GB" smtClean="0"/>
              <a:t>29/08/2026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15083566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EA6D10-A6A4-4BE3-AB43-762348D6A38F}" type="datetimeFigureOut">
              <a:rPr lang="en-GB" smtClean="0"/>
              <a:t>29/08/2026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382931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B2EA6D10-A6A4-4BE3-AB43-762348D6A38F}" type="datetimeFigureOut">
              <a:rPr lang="en-GB" smtClean="0"/>
              <a:t>29/08/2026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108783204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2EA6D10-A6A4-4BE3-AB43-762348D6A38F}" type="datetimeFigureOut">
              <a:rPr lang="en-GB" smtClean="0"/>
              <a:t>29/08/2026</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405113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B2EA6D10-A6A4-4BE3-AB43-762348D6A38F}" type="datetimeFigureOut">
              <a:rPr lang="en-GB" smtClean="0"/>
              <a:t>29/08/2026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7D2019-7BD8-4EAC-B75A-54E28C303483}" type="slidenum">
              <a:rPr lang="en-GB" smtClean="0"/>
              <a:t>‹#›</a:t>
            </a:fld>
            <a:endParaRPr lang="en-GB"/>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1911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EA6D10-A6A4-4BE3-AB43-762348D6A38F}" type="datetimeFigureOut">
              <a:rPr lang="en-GB" smtClean="0"/>
              <a:t>29/08/2026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1587328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EA6D10-A6A4-4BE3-AB43-762348D6A38F}" type="datetimeFigureOut">
              <a:rPr lang="en-GB" smtClean="0"/>
              <a:t>29/08/2026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501853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B2EA6D10-A6A4-4BE3-AB43-762348D6A38F}" type="datetimeFigureOut">
              <a:rPr lang="en-GB" smtClean="0"/>
              <a:t>29/08/2026</a:t>
            </a:fld>
            <a:endParaRPr lang="en-GB"/>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1" name="Slide Number Placeholder 10"/>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2201829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2EA6D10-A6A4-4BE3-AB43-762348D6A38F}" type="datetimeFigureOut">
              <a:rPr lang="en-GB" smtClean="0"/>
              <a:t>29/08/2026</a:t>
            </a:fld>
            <a:endParaRPr lang="en-GB"/>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0" name="Slide Number Placeholder 9"/>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259347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EA6D10-A6A4-4BE3-AB43-762348D6A38F}" type="datetimeFigureOut">
              <a:rPr lang="en-GB" smtClean="0"/>
              <a:t>29/08/2026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366290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EA6D10-A6A4-4BE3-AB43-762348D6A38F}" type="datetimeFigureOut">
              <a:rPr lang="en-GB" smtClean="0"/>
              <a:t>29/08/2026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7D2019-7BD8-4EAC-B75A-54E28C303483}" type="slidenum">
              <a:rPr lang="en-GB" smtClean="0"/>
              <a:t>‹#›</a:t>
            </a:fld>
            <a:endParaRPr lang="en-GB"/>
          </a:p>
        </p:txBody>
      </p:sp>
    </p:spTree>
    <p:extLst>
      <p:ext uri="{BB962C8B-B14F-4D97-AF65-F5344CB8AC3E}">
        <p14:creationId xmlns:p14="http://schemas.microsoft.com/office/powerpoint/2010/main" val="204464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B2EA6D10-A6A4-4BE3-AB43-762348D6A38F}" type="datetimeFigureOut">
              <a:rPr lang="en-GB" smtClean="0"/>
              <a:t>29/08/2026</a:t>
            </a:fld>
            <a:endParaRPr lang="en-GB"/>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GB"/>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507D2019-7BD8-4EAC-B75A-54E28C303483}" type="slidenum">
              <a:rPr lang="en-GB" smtClean="0"/>
              <a:t>‹#›</a:t>
            </a:fld>
            <a:endParaRPr lang="en-GB"/>
          </a:p>
        </p:txBody>
      </p:sp>
    </p:spTree>
    <p:extLst>
      <p:ext uri="{BB962C8B-B14F-4D97-AF65-F5344CB8AC3E}">
        <p14:creationId xmlns:p14="http://schemas.microsoft.com/office/powerpoint/2010/main" val="3293694972"/>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42C2-FD09-4043-9C9C-E37BBD9B5428}"/>
              </a:ext>
            </a:extLst>
          </p:cNvPr>
          <p:cNvSpPr>
            <a:spLocks noGrp="1"/>
          </p:cNvSpPr>
          <p:nvPr>
            <p:ph type="ctrTitle"/>
          </p:nvPr>
        </p:nvSpPr>
        <p:spPr>
          <a:xfrm>
            <a:off x="1707776" y="1783080"/>
            <a:ext cx="8991600" cy="1645920"/>
          </a:xfrm>
        </p:spPr>
        <p:txBody>
          <a:bodyPr/>
          <a:lstStyle/>
          <a:p>
            <a:r>
              <a:rPr lang="en-US" dirty="0"/>
              <a:t>Process Termination Messages</a:t>
            </a:r>
            <a:endParaRPr lang="en-GB" dirty="0"/>
          </a:p>
        </p:txBody>
      </p:sp>
      <p:sp>
        <p:nvSpPr>
          <p:cNvPr id="3" name="Subtitle 2">
            <a:extLst>
              <a:ext uri="{FF2B5EF4-FFF2-40B4-BE49-F238E27FC236}">
                <a16:creationId xmlns:a16="http://schemas.microsoft.com/office/drawing/2014/main" id="{A809297E-9BAB-4199-8F72-BDB5C80AEC6C}"/>
              </a:ext>
            </a:extLst>
          </p:cNvPr>
          <p:cNvSpPr>
            <a:spLocks noGrp="1"/>
          </p:cNvSpPr>
          <p:nvPr>
            <p:ph type="subTitle" idx="1"/>
          </p:nvPr>
        </p:nvSpPr>
        <p:spPr>
          <a:xfrm>
            <a:off x="8005482" y="3711388"/>
            <a:ext cx="3917577" cy="2725271"/>
          </a:xfrm>
        </p:spPr>
        <p:txBody>
          <a:bodyPr>
            <a:normAutofit lnSpcReduction="10000"/>
          </a:bodyPr>
          <a:lstStyle/>
          <a:p>
            <a:endParaRPr lang="en-US" dirty="0"/>
          </a:p>
          <a:p>
            <a:pPr algn="l"/>
            <a:r>
              <a:rPr lang="en-US" altLang="en-US" sz="2300" dirty="0">
                <a:solidFill>
                  <a:schemeClr val="tx1"/>
                </a:solidFill>
              </a:rPr>
              <a:t>Section 2 , Team 9</a:t>
            </a:r>
          </a:p>
          <a:p>
            <a:pPr algn="l"/>
            <a:r>
              <a:rPr lang="en-US" sz="2100" dirty="0"/>
              <a:t>Team members:</a:t>
            </a:r>
            <a:br>
              <a:rPr lang="en-US" dirty="0"/>
            </a:br>
            <a:br>
              <a:rPr lang="en-US" dirty="0"/>
            </a:br>
            <a:r>
              <a:rPr lang="en-US" dirty="0"/>
              <a:t>2520030159    -      B. Hema Sri</a:t>
            </a:r>
          </a:p>
          <a:p>
            <a:pPr algn="l"/>
            <a:r>
              <a:rPr lang="en-US" dirty="0"/>
              <a:t>2520030371    -      P. </a:t>
            </a:r>
            <a:r>
              <a:rPr lang="en-US" dirty="0" err="1"/>
              <a:t>Havishaa</a:t>
            </a:r>
            <a:r>
              <a:rPr lang="en-US" dirty="0"/>
              <a:t> </a:t>
            </a:r>
          </a:p>
          <a:p>
            <a:pPr algn="l"/>
            <a:r>
              <a:rPr lang="en-US" dirty="0"/>
              <a:t>2520030446    -      K. </a:t>
            </a:r>
            <a:r>
              <a:rPr lang="en-US" dirty="0" err="1"/>
              <a:t>Satwik</a:t>
            </a:r>
            <a:r>
              <a:rPr lang="en-US" dirty="0"/>
              <a:t> Reddy</a:t>
            </a:r>
            <a:endParaRPr lang="en-GB" dirty="0"/>
          </a:p>
        </p:txBody>
      </p:sp>
    </p:spTree>
    <p:extLst>
      <p:ext uri="{BB962C8B-B14F-4D97-AF65-F5344CB8AC3E}">
        <p14:creationId xmlns:p14="http://schemas.microsoft.com/office/powerpoint/2010/main" val="3769336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3CAA-F831-49EA-84CA-04B0FBEE54D1}"/>
              </a:ext>
            </a:extLst>
          </p:cNvPr>
          <p:cNvSpPr>
            <a:spLocks noGrp="1"/>
          </p:cNvSpPr>
          <p:nvPr>
            <p:ph type="title"/>
          </p:nvPr>
        </p:nvSpPr>
        <p:spPr>
          <a:xfrm>
            <a:off x="2231136" y="256481"/>
            <a:ext cx="7729728" cy="1188720"/>
          </a:xfrm>
        </p:spPr>
        <p:txBody>
          <a:bodyPr/>
          <a:lstStyle/>
          <a:p>
            <a:r>
              <a:rPr lang="en-US" dirty="0"/>
              <a:t>ABSTRACT</a:t>
            </a:r>
            <a:endParaRPr lang="en-GB" dirty="0"/>
          </a:p>
        </p:txBody>
      </p:sp>
      <p:sp>
        <p:nvSpPr>
          <p:cNvPr id="3" name="Content Placeholder 2">
            <a:extLst>
              <a:ext uri="{FF2B5EF4-FFF2-40B4-BE49-F238E27FC236}">
                <a16:creationId xmlns:a16="http://schemas.microsoft.com/office/drawing/2014/main" id="{CF784F4E-C934-4486-90D0-CD6C8E4BA0DC}"/>
              </a:ext>
            </a:extLst>
          </p:cNvPr>
          <p:cNvSpPr>
            <a:spLocks noGrp="1"/>
          </p:cNvSpPr>
          <p:nvPr>
            <p:ph idx="1"/>
          </p:nvPr>
        </p:nvSpPr>
        <p:spPr>
          <a:xfrm>
            <a:off x="2231136" y="1891553"/>
            <a:ext cx="8338252" cy="4778189"/>
          </a:xfrm>
        </p:spPr>
        <p:txBody>
          <a:bodyPr>
            <a:normAutofit fontScale="92500" lnSpcReduction="20000"/>
          </a:bodyPr>
          <a:lstStyle/>
          <a:p>
            <a:r>
              <a:rPr lang="en-US" dirty="0"/>
              <a:t>In a Linux operating system, a parent process may create and manage multiple child processes, making it important to detect when a child process terminates and understand the reason for its termination. This project, Process Termination Messages, aims to develop a Linux-based user-space application that monitors child processes and provides meaningful messages when they terminate.</a:t>
            </a:r>
            <a:endParaRPr lang="en-GB" dirty="0"/>
          </a:p>
          <a:p>
            <a:r>
              <a:rPr lang="en-US" dirty="0"/>
              <a:t>The project focuses on Operating Systems and system programming concepts such as process creation, process termination, process management, signals, and inter-process communication mechanisms. The proposed solution uses a parent process to create multiple child processes using the fork() system call. The parent monitors these child processes using </a:t>
            </a:r>
            <a:r>
              <a:rPr lang="en-US" dirty="0" err="1"/>
              <a:t>waitpid</a:t>
            </a:r>
            <a:r>
              <a:rPr lang="en-US" dirty="0"/>
              <a:t>() and the SIGCHLD signal. When a child terminates, the program analyzes its termination status using functions such as WIFEXITED(), WEXITSTATUS(), WIFSIGNALED(), and WTERMSIG() to determine whether it exited normally or was terminated by a signal. The termination details can also be recorded in a log file for future reference.</a:t>
            </a:r>
            <a:endParaRPr lang="en-GB" dirty="0"/>
          </a:p>
          <a:p>
            <a:r>
              <a:rPr lang="en-US" dirty="0"/>
              <a:t>The project will be implemented in C on a Linux/Ubuntu environment and will use POSIX/Linux system calls and debugging tools such as </a:t>
            </a:r>
            <a:r>
              <a:rPr lang="en-US" dirty="0" err="1"/>
              <a:t>strace</a:t>
            </a:r>
            <a:r>
              <a:rPr lang="en-US" dirty="0"/>
              <a:t> and GDB. The expected outcome is a functional process monitoring application that can reliably detect child process termination, identify the termination reason, and display clear termination messages. The project will provide practical experience in Linux process management and system-level programming.</a:t>
            </a:r>
            <a:endParaRPr lang="en-GB" dirty="0"/>
          </a:p>
          <a:p>
            <a:endParaRPr lang="en-GB" dirty="0"/>
          </a:p>
        </p:txBody>
      </p:sp>
    </p:spTree>
    <p:extLst>
      <p:ext uri="{BB962C8B-B14F-4D97-AF65-F5344CB8AC3E}">
        <p14:creationId xmlns:p14="http://schemas.microsoft.com/office/powerpoint/2010/main" val="119440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A6E7-ACF7-4DA0-9062-4B65B6727301}"/>
              </a:ext>
            </a:extLst>
          </p:cNvPr>
          <p:cNvSpPr>
            <a:spLocks noGrp="1"/>
          </p:cNvSpPr>
          <p:nvPr>
            <p:ph type="title"/>
          </p:nvPr>
        </p:nvSpPr>
        <p:spPr/>
        <p:txBody>
          <a:bodyPr/>
          <a:lstStyle/>
          <a:p>
            <a:r>
              <a:rPr lang="en-US" altLang="en-US" cap="none" dirty="0">
                <a:solidFill>
                  <a:schemeClr val="tx1"/>
                </a:solidFill>
              </a:rPr>
              <a:t>PROBLEM DEFINITION</a:t>
            </a:r>
            <a:endParaRPr lang="en-GB" dirty="0"/>
          </a:p>
        </p:txBody>
      </p:sp>
      <p:sp>
        <p:nvSpPr>
          <p:cNvPr id="3" name="Content Placeholder 2">
            <a:extLst>
              <a:ext uri="{FF2B5EF4-FFF2-40B4-BE49-F238E27FC236}">
                <a16:creationId xmlns:a16="http://schemas.microsoft.com/office/drawing/2014/main" id="{F525F4E6-9F81-4611-BE78-50EB2C501B3B}"/>
              </a:ext>
            </a:extLst>
          </p:cNvPr>
          <p:cNvSpPr>
            <a:spLocks noGrp="1"/>
          </p:cNvSpPr>
          <p:nvPr>
            <p:ph idx="1"/>
          </p:nvPr>
        </p:nvSpPr>
        <p:spPr>
          <a:xfrm>
            <a:off x="2311818" y="3153597"/>
            <a:ext cx="7729728" cy="3101983"/>
          </a:xfrm>
        </p:spPr>
        <p:txBody>
          <a:bodyPr>
            <a:normAutofit/>
          </a:bodyPr>
          <a:lstStyle/>
          <a:p>
            <a:pPr marL="0" lvl="0" indent="0" eaLnBrk="0" fontAlgn="base" hangingPunct="0">
              <a:spcBef>
                <a:spcPct val="0"/>
              </a:spcBef>
              <a:spcAft>
                <a:spcPct val="0"/>
              </a:spcAft>
              <a:buClrTx/>
              <a:buFontTx/>
              <a:buChar char="•"/>
            </a:pPr>
            <a:r>
              <a:rPr lang="en-US" altLang="en-US" dirty="0">
                <a:solidFill>
                  <a:schemeClr val="tx1"/>
                </a:solidFill>
              </a:rPr>
              <a:t>A parent process can create multiple child processes.</a:t>
            </a:r>
          </a:p>
          <a:p>
            <a:pPr marL="0" lvl="0" indent="0" eaLnBrk="0" fontAlgn="base" hangingPunct="0">
              <a:spcBef>
                <a:spcPct val="0"/>
              </a:spcBef>
              <a:spcAft>
                <a:spcPct val="0"/>
              </a:spcAft>
              <a:buClrTx/>
              <a:buNone/>
            </a:pPr>
            <a:r>
              <a:rPr lang="en-US" altLang="en-US" dirty="0">
                <a:solidFill>
                  <a:schemeClr val="tx1"/>
                </a:solidFill>
              </a:rPr>
              <a:t> </a:t>
            </a:r>
          </a:p>
          <a:p>
            <a:pPr marL="0" lvl="0" indent="0" eaLnBrk="0" fontAlgn="base" hangingPunct="0">
              <a:spcBef>
                <a:spcPct val="0"/>
              </a:spcBef>
              <a:spcAft>
                <a:spcPct val="0"/>
              </a:spcAft>
              <a:buClrTx/>
              <a:buFontTx/>
              <a:buChar char="•"/>
            </a:pPr>
            <a:r>
              <a:rPr lang="en-US" altLang="en-US" dirty="0">
                <a:solidFill>
                  <a:schemeClr val="tx1"/>
                </a:solidFill>
              </a:rPr>
              <a:t>Child processes may terminate at different times. </a:t>
            </a:r>
          </a:p>
          <a:p>
            <a:pPr marL="0" lvl="0" indent="0" eaLnBrk="0" fontAlgn="base" hangingPunct="0">
              <a:spcBef>
                <a:spcPct val="0"/>
              </a:spcBef>
              <a:spcAft>
                <a:spcPct val="0"/>
              </a:spcAft>
              <a:buClrTx/>
              <a:buNone/>
            </a:pPr>
            <a:endParaRPr lang="en-US" altLang="en-US" dirty="0">
              <a:solidFill>
                <a:schemeClr val="tx1"/>
              </a:solidFill>
            </a:endParaRPr>
          </a:p>
          <a:p>
            <a:pPr marL="0" lvl="0" indent="0" eaLnBrk="0" fontAlgn="base" hangingPunct="0">
              <a:spcBef>
                <a:spcPct val="0"/>
              </a:spcBef>
              <a:spcAft>
                <a:spcPct val="0"/>
              </a:spcAft>
              <a:buClrTx/>
              <a:buFontTx/>
              <a:buChar char="•"/>
            </a:pPr>
            <a:r>
              <a:rPr lang="en-US" altLang="en-US" dirty="0">
                <a:solidFill>
                  <a:schemeClr val="tx1"/>
                </a:solidFill>
              </a:rPr>
              <a:t>The parent needs to detect when a child process terminates. </a:t>
            </a:r>
          </a:p>
          <a:p>
            <a:pPr marL="0" lvl="0" indent="0" eaLnBrk="0" fontAlgn="base" hangingPunct="0">
              <a:spcBef>
                <a:spcPct val="0"/>
              </a:spcBef>
              <a:spcAft>
                <a:spcPct val="0"/>
              </a:spcAft>
              <a:buClrTx/>
              <a:buNone/>
            </a:pPr>
            <a:endParaRPr lang="en-US" altLang="en-US" dirty="0">
              <a:solidFill>
                <a:schemeClr val="tx1"/>
              </a:solidFill>
            </a:endParaRPr>
          </a:p>
          <a:p>
            <a:pPr marL="0" lvl="0" indent="0" eaLnBrk="0" fontAlgn="base" hangingPunct="0">
              <a:spcBef>
                <a:spcPct val="0"/>
              </a:spcBef>
              <a:spcAft>
                <a:spcPct val="0"/>
              </a:spcAft>
              <a:buClrTx/>
              <a:buFontTx/>
              <a:buChar char="•"/>
            </a:pPr>
            <a:r>
              <a:rPr lang="en-US" altLang="en-US" dirty="0">
                <a:solidFill>
                  <a:schemeClr val="tx1"/>
                </a:solidFill>
              </a:rPr>
              <a:t>It should also identify how the child process terminated. </a:t>
            </a:r>
          </a:p>
        </p:txBody>
      </p:sp>
    </p:spTree>
    <p:extLst>
      <p:ext uri="{BB962C8B-B14F-4D97-AF65-F5344CB8AC3E}">
        <p14:creationId xmlns:p14="http://schemas.microsoft.com/office/powerpoint/2010/main" val="245970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5580-CB98-43E4-A81D-1F5425E6E692}"/>
              </a:ext>
            </a:extLst>
          </p:cNvPr>
          <p:cNvSpPr>
            <a:spLocks noGrp="1"/>
          </p:cNvSpPr>
          <p:nvPr>
            <p:ph type="title"/>
          </p:nvPr>
        </p:nvSpPr>
        <p:spPr/>
        <p:txBody>
          <a:bodyPr/>
          <a:lstStyle/>
          <a:p>
            <a:r>
              <a:rPr lang="en-US" dirty="0"/>
              <a:t>Our Approach</a:t>
            </a:r>
            <a:endParaRPr lang="en-GB" dirty="0"/>
          </a:p>
        </p:txBody>
      </p:sp>
      <p:sp>
        <p:nvSpPr>
          <p:cNvPr id="3" name="Content Placeholder 2">
            <a:extLst>
              <a:ext uri="{FF2B5EF4-FFF2-40B4-BE49-F238E27FC236}">
                <a16:creationId xmlns:a16="http://schemas.microsoft.com/office/drawing/2014/main" id="{44730699-1E6F-4452-924E-57C293D2D05F}"/>
              </a:ext>
            </a:extLst>
          </p:cNvPr>
          <p:cNvSpPr>
            <a:spLocks noGrp="1"/>
          </p:cNvSpPr>
          <p:nvPr>
            <p:ph idx="1"/>
          </p:nvPr>
        </p:nvSpPr>
        <p:spPr/>
        <p:txBody>
          <a:bodyPr>
            <a:normAutofit fontScale="92500" lnSpcReduction="20000"/>
          </a:bodyPr>
          <a:lstStyle/>
          <a:p>
            <a:r>
              <a:rPr lang="en-US" sz="1900" dirty="0"/>
              <a:t>Create a parent process to manage child processes.</a:t>
            </a:r>
          </a:p>
          <a:p>
            <a:r>
              <a:rPr lang="en-US" sz="1900" dirty="0"/>
              <a:t>Use fork() to create multiple child processes.</a:t>
            </a:r>
          </a:p>
          <a:p>
            <a:r>
              <a:rPr lang="en-US" sz="1900" dirty="0"/>
              <a:t>Allow each child process to perform a simple task.</a:t>
            </a:r>
          </a:p>
          <a:p>
            <a:r>
              <a:rPr lang="en-US" sz="1900" dirty="0"/>
              <a:t>Terminate child processes normally or through signals.</a:t>
            </a:r>
          </a:p>
          <a:p>
            <a:r>
              <a:rPr lang="en-US" sz="1900" dirty="0"/>
              <a:t>Analyze the termination status of each child process.</a:t>
            </a:r>
          </a:p>
          <a:p>
            <a:r>
              <a:rPr lang="en-US" sz="1900" dirty="0"/>
              <a:t>Display a termination message with the child PID, termination type, and exit status or signal.</a:t>
            </a:r>
          </a:p>
          <a:p>
            <a:r>
              <a:rPr lang="en-US" sz="1900" dirty="0"/>
              <a:t>Process Flow:</a:t>
            </a:r>
          </a:p>
          <a:p>
            <a:pPr marL="0" indent="0">
              <a:buNone/>
            </a:pPr>
            <a:r>
              <a:rPr lang="en-US" sz="1900" dirty="0"/>
              <a:t>     Create → Execute → Terminate → Analyze → Notify</a:t>
            </a:r>
          </a:p>
          <a:p>
            <a:endParaRPr lang="en-GB" dirty="0"/>
          </a:p>
        </p:txBody>
      </p:sp>
    </p:spTree>
    <p:extLst>
      <p:ext uri="{BB962C8B-B14F-4D97-AF65-F5344CB8AC3E}">
        <p14:creationId xmlns:p14="http://schemas.microsoft.com/office/powerpoint/2010/main" val="211417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12FA3-4E62-4FF5-BDD3-B3BBDD49B011}"/>
              </a:ext>
            </a:extLst>
          </p:cNvPr>
          <p:cNvSpPr>
            <a:spLocks noGrp="1"/>
          </p:cNvSpPr>
          <p:nvPr>
            <p:ph type="title"/>
          </p:nvPr>
        </p:nvSpPr>
        <p:spPr/>
        <p:txBody>
          <a:bodyPr/>
          <a:lstStyle/>
          <a:p>
            <a:r>
              <a:rPr lang="en-US" altLang="en-US" cap="none" dirty="0">
                <a:solidFill>
                  <a:schemeClr val="tx1"/>
                </a:solidFill>
                <a:latin typeface="Arial" panose="020B0604020202020204" pitchFamily="34" charset="0"/>
              </a:rPr>
              <a:t>OBJECTIVES</a:t>
            </a:r>
            <a:endParaRPr lang="en-GB" dirty="0"/>
          </a:p>
        </p:txBody>
      </p:sp>
      <p:sp>
        <p:nvSpPr>
          <p:cNvPr id="8" name="Rectangle 5">
            <a:extLst>
              <a:ext uri="{FF2B5EF4-FFF2-40B4-BE49-F238E27FC236}">
                <a16:creationId xmlns:a16="http://schemas.microsoft.com/office/drawing/2014/main" id="{A9DBD0CE-73A0-4929-B20D-7183E197697A}"/>
              </a:ext>
            </a:extLst>
          </p:cNvPr>
          <p:cNvSpPr>
            <a:spLocks noGrp="1" noChangeArrowheads="1"/>
          </p:cNvSpPr>
          <p:nvPr>
            <p:ph idx="1"/>
          </p:nvPr>
        </p:nvSpPr>
        <p:spPr bwMode="auto">
          <a:xfrm>
            <a:off x="2284924" y="2325355"/>
            <a:ext cx="736695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create and manage child processes using Linux/POSIX system calls.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detect child process termination and identify the reason for termination.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display meaningful termination messages with process ID and exit status.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handle different types of process termination.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understand the parent-child process relationship in Linux.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monitor the execution and termination of multiple child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distinguish between normal and signal-based termination.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To record information about terminated processes.</a:t>
            </a:r>
          </a:p>
        </p:txBody>
      </p:sp>
    </p:spTree>
    <p:extLst>
      <p:ext uri="{BB962C8B-B14F-4D97-AF65-F5344CB8AC3E}">
        <p14:creationId xmlns:p14="http://schemas.microsoft.com/office/powerpoint/2010/main" val="783298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9EB8-4A0C-4B8F-957C-40328ECC74EB}"/>
              </a:ext>
            </a:extLst>
          </p:cNvPr>
          <p:cNvSpPr>
            <a:spLocks noGrp="1"/>
          </p:cNvSpPr>
          <p:nvPr>
            <p:ph type="title"/>
          </p:nvPr>
        </p:nvSpPr>
        <p:spPr/>
        <p:txBody>
          <a:bodyPr/>
          <a:lstStyle/>
          <a:p>
            <a:r>
              <a:rPr lang="en-US" altLang="en-US" cap="none" dirty="0">
                <a:solidFill>
                  <a:schemeClr val="tx1"/>
                </a:solidFill>
              </a:rPr>
              <a:t>OS CONCEPTS INVOLVED</a:t>
            </a:r>
            <a:endParaRPr lang="en-GB" dirty="0"/>
          </a:p>
        </p:txBody>
      </p:sp>
      <p:sp>
        <p:nvSpPr>
          <p:cNvPr id="4" name="Rectangle 1">
            <a:extLst>
              <a:ext uri="{FF2B5EF4-FFF2-40B4-BE49-F238E27FC236}">
                <a16:creationId xmlns:a16="http://schemas.microsoft.com/office/drawing/2014/main" id="{D3443821-EBD8-4103-A738-B6023E1C710D}"/>
              </a:ext>
            </a:extLst>
          </p:cNvPr>
          <p:cNvSpPr>
            <a:spLocks noGrp="1" noChangeArrowheads="1"/>
          </p:cNvSpPr>
          <p:nvPr>
            <p:ph idx="1"/>
          </p:nvPr>
        </p:nvSpPr>
        <p:spPr bwMode="auto">
          <a:xfrm>
            <a:off x="2231136" y="2480877"/>
            <a:ext cx="69365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Process Creation – Creating child processes using fork().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Process Termination – Terminating a process using exit().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Process Monitoring – Parent process monitors its child processes.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Signals – Used for process notification and termination.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Exit Status – Provides information about how a process finished.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Parent-Child Relationship – Parent process manages its child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31817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E4CB0-B33E-45C9-8B44-6B9D2280523D}"/>
              </a:ext>
            </a:extLst>
          </p:cNvPr>
          <p:cNvSpPr>
            <a:spLocks noGrp="1"/>
          </p:cNvSpPr>
          <p:nvPr>
            <p:ph type="title"/>
          </p:nvPr>
        </p:nvSpPr>
        <p:spPr/>
        <p:txBody>
          <a:bodyPr/>
          <a:lstStyle/>
          <a:p>
            <a:r>
              <a:rPr lang="en-US" dirty="0"/>
              <a:t>Tools / Platforms / Software Used</a:t>
            </a:r>
            <a:endParaRPr lang="en-GB" dirty="0"/>
          </a:p>
        </p:txBody>
      </p:sp>
      <p:sp>
        <p:nvSpPr>
          <p:cNvPr id="3" name="Content Placeholder 2">
            <a:extLst>
              <a:ext uri="{FF2B5EF4-FFF2-40B4-BE49-F238E27FC236}">
                <a16:creationId xmlns:a16="http://schemas.microsoft.com/office/drawing/2014/main" id="{296DDEA6-0DAC-4D49-80E8-8B37CA255F9E}"/>
              </a:ext>
            </a:extLst>
          </p:cNvPr>
          <p:cNvSpPr>
            <a:spLocks noGrp="1"/>
          </p:cNvSpPr>
          <p:nvPr>
            <p:ph idx="1"/>
          </p:nvPr>
        </p:nvSpPr>
        <p:spPr/>
        <p:txBody>
          <a:bodyPr/>
          <a:lstStyle/>
          <a:p>
            <a:r>
              <a:rPr lang="en-GB" b="1" dirty="0"/>
              <a:t>Linux / Ubuntu</a:t>
            </a:r>
            <a:r>
              <a:rPr lang="en-GB" dirty="0"/>
              <a:t> : Operating environment for implementing and running the project.</a:t>
            </a:r>
          </a:p>
          <a:p>
            <a:r>
              <a:rPr lang="en-GB" b="1" dirty="0"/>
              <a:t>C / C++</a:t>
            </a:r>
            <a:r>
              <a:rPr lang="en-GB" dirty="0"/>
              <a:t> : Programming language used to develop the application.</a:t>
            </a:r>
          </a:p>
          <a:p>
            <a:r>
              <a:rPr lang="en-GB" b="1" dirty="0"/>
              <a:t>GCC (GNU Compiler Collection)</a:t>
            </a:r>
            <a:r>
              <a:rPr lang="en-GB" dirty="0"/>
              <a:t> : Compiles the C/C++ source code.</a:t>
            </a:r>
          </a:p>
          <a:p>
            <a:r>
              <a:rPr lang="en-GB" b="1" dirty="0"/>
              <a:t>POSIX/Linux System Calls</a:t>
            </a:r>
            <a:r>
              <a:rPr lang="en-GB" dirty="0"/>
              <a:t> : Process creation, termination, and management.</a:t>
            </a:r>
          </a:p>
          <a:p>
            <a:r>
              <a:rPr lang="en-GB" b="1" dirty="0"/>
              <a:t>GDB</a:t>
            </a:r>
            <a:r>
              <a:rPr lang="en-GB" dirty="0"/>
              <a:t> : Debugging the program and identifying errors.</a:t>
            </a:r>
          </a:p>
          <a:p>
            <a:r>
              <a:rPr lang="en-GB" b="1" dirty="0" err="1"/>
              <a:t>Strace</a:t>
            </a:r>
            <a:r>
              <a:rPr lang="en-GB" dirty="0"/>
              <a:t> : Observing and analysing Linux system calls used by the program.</a:t>
            </a:r>
          </a:p>
          <a:p>
            <a:endParaRPr lang="en-GB" dirty="0"/>
          </a:p>
        </p:txBody>
      </p:sp>
    </p:spTree>
    <p:extLst>
      <p:ext uri="{BB962C8B-B14F-4D97-AF65-F5344CB8AC3E}">
        <p14:creationId xmlns:p14="http://schemas.microsoft.com/office/powerpoint/2010/main" val="363692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D488-9E72-47DD-8018-6A2B3D377C01}"/>
              </a:ext>
            </a:extLst>
          </p:cNvPr>
          <p:cNvSpPr>
            <a:spLocks noGrp="1"/>
          </p:cNvSpPr>
          <p:nvPr>
            <p:ph type="title"/>
          </p:nvPr>
        </p:nvSpPr>
        <p:spPr/>
        <p:txBody>
          <a:bodyPr/>
          <a:lstStyle/>
          <a:p>
            <a:r>
              <a:rPr lang="en-US" dirty="0"/>
              <a:t>Expected outcome</a:t>
            </a:r>
            <a:endParaRPr lang="en-GB" dirty="0"/>
          </a:p>
        </p:txBody>
      </p:sp>
      <p:sp>
        <p:nvSpPr>
          <p:cNvPr id="3" name="Content Placeholder 2">
            <a:extLst>
              <a:ext uri="{FF2B5EF4-FFF2-40B4-BE49-F238E27FC236}">
                <a16:creationId xmlns:a16="http://schemas.microsoft.com/office/drawing/2014/main" id="{7FF9F127-3223-435D-BD70-D9D41CBB0176}"/>
              </a:ext>
            </a:extLst>
          </p:cNvPr>
          <p:cNvSpPr>
            <a:spLocks noGrp="1"/>
          </p:cNvSpPr>
          <p:nvPr>
            <p:ph idx="1"/>
          </p:nvPr>
        </p:nvSpPr>
        <p:spPr/>
        <p:txBody>
          <a:bodyPr/>
          <a:lstStyle/>
          <a:p>
            <a:r>
              <a:rPr lang="en-US" dirty="0"/>
              <a:t>The expected outcome is a functional Linux-based process monitoring application that can create and monitor child processes and generate clear termination messages whenever they terminate. </a:t>
            </a:r>
          </a:p>
          <a:p>
            <a:r>
              <a:rPr lang="en-US" dirty="0"/>
              <a:t>The system will distinguish between normal termination and signal-based termination and display relevant information such as the child process ID and exit status or terminating signal. </a:t>
            </a:r>
          </a:p>
          <a:p>
            <a:r>
              <a:rPr lang="en-US" dirty="0"/>
              <a:t>The project will demonstrate practical understanding of Linux process management, POSIX system calls, signals, and basic system-level programming.</a:t>
            </a:r>
            <a:endParaRPr lang="en-GB" dirty="0"/>
          </a:p>
          <a:p>
            <a:endParaRPr lang="en-GB" dirty="0"/>
          </a:p>
        </p:txBody>
      </p:sp>
    </p:spTree>
    <p:extLst>
      <p:ext uri="{BB962C8B-B14F-4D97-AF65-F5344CB8AC3E}">
        <p14:creationId xmlns:p14="http://schemas.microsoft.com/office/powerpoint/2010/main" val="2030504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hank you Images - Free Download on Magnific (formerly Freepik)">
            <a:extLst>
              <a:ext uri="{FF2B5EF4-FFF2-40B4-BE49-F238E27FC236}">
                <a16:creationId xmlns:a16="http://schemas.microsoft.com/office/drawing/2014/main" id="{11E9217D-369F-443F-8D50-A4ECB58F4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933450"/>
            <a:ext cx="704850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14560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71</TotalTime>
  <Words>707</Words>
  <Application>Microsoft Office PowerPoint</Application>
  <PresentationFormat>Widescreen</PresentationFormat>
  <Paragraphs>66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Process Termination Messages</vt:lpstr>
      <vt:lpstr>ABSTRACT</vt:lpstr>
      <vt:lpstr>PROBLEM DEFINITION</vt:lpstr>
      <vt:lpstr>Our Approach</vt:lpstr>
      <vt:lpstr>OBJECTIVES</vt:lpstr>
      <vt:lpstr>OS CONCEPTS INVOLVED</vt:lpstr>
      <vt:lpstr>Tools / Platforms / Software Used</vt:lpstr>
      <vt:lpstr>Expected outcome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Termination Messages</dc:title>
  <dc:creator>MADHU</dc:creator>
  <cp:lastModifiedBy>MADHU</cp:lastModifiedBy>
  <cp:revision>7</cp:revision>
  <dcterms:created xsi:type="dcterms:W3CDTF">2026-08-28T03:27:42Z</dcterms:created>
  <dcterms:modified xsi:type="dcterms:W3CDTF">2026-08-29T06:08:16Z</dcterms:modified>
</cp:coreProperties>
</file>